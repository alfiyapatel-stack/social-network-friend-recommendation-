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9" r:id="rId11"/>
    <p:sldId id="263" r:id="rId12"/>
    <p:sldId id="270" r:id="rId13"/>
    <p:sldId id="264" r:id="rId14"/>
    <p:sldId id="265" r:id="rId15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7"/>
    </p:embeddedFont>
    <p:embeddedFont>
      <p:font typeface="Bahnschrift SemiBold" panose="020B0502040204020203" pitchFamily="34" charset="0"/>
      <p:bold r:id="rId18"/>
    </p:embeddedFont>
    <p:embeddedFont>
      <p:font typeface="Bobby Jones" panose="020B0604020202020204" charset="0"/>
      <p:regular r:id="rId19"/>
    </p:embeddedFont>
    <p:embeddedFont>
      <p:font typeface="Garet" panose="020B0604020202020204" charset="0"/>
      <p:regular r:id="rId20"/>
    </p:embeddedFont>
    <p:embeddedFont>
      <p:font typeface="Kooperativ" panose="020B0604020202020204" charset="0"/>
      <p:regular r:id="rId21"/>
    </p:embeddedFont>
    <p:embeddedFont>
      <p:font typeface="Marykate" panose="020B0604020202020204" charset="0"/>
      <p:regular r:id="rId22"/>
    </p:embeddedFont>
    <p:embeddedFont>
      <p:font typeface="Sniglet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2" y="3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FFB15-645B-4818-8857-BB0D2C45A91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1BD07-EABE-4A52-ABB8-769A8F93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7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1BD07-EABE-4A52-ABB8-769A8F933E2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92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.svg"/><Relationship Id="rId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61867" y="997431"/>
            <a:ext cx="9889367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7200" b="1" dirty="0">
                <a:solidFill>
                  <a:schemeClr val="accent6">
                    <a:lumMod val="75000"/>
                  </a:schemeClr>
                </a:solidFill>
              </a:rPr>
              <a:t>SOCIAL NETWORK FRIEND RECOMMENDATION</a:t>
            </a:r>
            <a:endParaRPr lang="en-US" sz="7200" b="1" dirty="0">
              <a:solidFill>
                <a:schemeClr val="accent6">
                  <a:lumMod val="75000"/>
                </a:schemeClr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311354" y="4313689"/>
            <a:ext cx="7332132" cy="2582411"/>
            <a:chOff x="0" y="0"/>
            <a:chExt cx="1985465" cy="1779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5465" cy="177931"/>
            </a:xfrm>
            <a:custGeom>
              <a:avLst/>
              <a:gdLst/>
              <a:ahLst/>
              <a:cxnLst/>
              <a:rect l="l" t="t" r="r" b="b"/>
              <a:pathLst>
                <a:path w="1985465" h="177931">
                  <a:moveTo>
                    <a:pt x="53850" y="0"/>
                  </a:moveTo>
                  <a:lnTo>
                    <a:pt x="1931614" y="0"/>
                  </a:lnTo>
                  <a:cubicBezTo>
                    <a:pt x="1945896" y="0"/>
                    <a:pt x="1959593" y="5674"/>
                    <a:pt x="1969692" y="15772"/>
                  </a:cubicBezTo>
                  <a:cubicBezTo>
                    <a:pt x="1979791" y="25871"/>
                    <a:pt x="1985465" y="39568"/>
                    <a:pt x="1985465" y="53850"/>
                  </a:cubicBezTo>
                  <a:lnTo>
                    <a:pt x="1985465" y="124081"/>
                  </a:lnTo>
                  <a:cubicBezTo>
                    <a:pt x="1985465" y="138363"/>
                    <a:pt x="1979791" y="152060"/>
                    <a:pt x="1969692" y="162158"/>
                  </a:cubicBezTo>
                  <a:cubicBezTo>
                    <a:pt x="1959593" y="172257"/>
                    <a:pt x="1945896" y="177931"/>
                    <a:pt x="1931614" y="177931"/>
                  </a:cubicBezTo>
                  <a:lnTo>
                    <a:pt x="53850" y="177931"/>
                  </a:lnTo>
                  <a:cubicBezTo>
                    <a:pt x="39568" y="177931"/>
                    <a:pt x="25871" y="172257"/>
                    <a:pt x="15772" y="162158"/>
                  </a:cubicBezTo>
                  <a:cubicBezTo>
                    <a:pt x="5674" y="152060"/>
                    <a:pt x="0" y="138363"/>
                    <a:pt x="0" y="124081"/>
                  </a:cubicBezTo>
                  <a:lnTo>
                    <a:pt x="0" y="53850"/>
                  </a:lnTo>
                  <a:cubicBezTo>
                    <a:pt x="0" y="39568"/>
                    <a:pt x="5674" y="25871"/>
                    <a:pt x="15772" y="15772"/>
                  </a:cubicBezTo>
                  <a:cubicBezTo>
                    <a:pt x="25871" y="5674"/>
                    <a:pt x="39568" y="0"/>
                    <a:pt x="53850" y="0"/>
                  </a:cubicBezTo>
                  <a:close/>
                </a:path>
              </a:pathLst>
            </a:custGeom>
            <a:solidFill>
              <a:srgbClr val="44A26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85465" cy="21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25929" y="3474067"/>
            <a:ext cx="1538008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000" dirty="0"/>
              <a:t>Using </a:t>
            </a:r>
            <a:r>
              <a:rPr lang="en-IN" sz="4000" dirty="0" err="1"/>
              <a:t>Warshall’s</a:t>
            </a:r>
            <a:r>
              <a:rPr lang="en-IN" sz="4000" dirty="0"/>
              <a:t> Algorithm and Transitive Closure</a:t>
            </a:r>
            <a:endParaRPr lang="en-US" sz="4000" spc="-320" dirty="0">
              <a:solidFill>
                <a:srgbClr val="004AAD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8" name="Freeform 8"/>
          <p:cNvSpPr/>
          <p:nvPr/>
        </p:nvSpPr>
        <p:spPr>
          <a:xfrm rot="1431192">
            <a:off x="3708909" y="2015916"/>
            <a:ext cx="1166877" cy="1164755"/>
          </a:xfrm>
          <a:custGeom>
            <a:avLst/>
            <a:gdLst/>
            <a:ahLst/>
            <a:cxnLst/>
            <a:rect l="l" t="t" r="r" b="b"/>
            <a:pathLst>
              <a:path w="1166877" h="1164755">
                <a:moveTo>
                  <a:pt x="0" y="0"/>
                </a:moveTo>
                <a:lnTo>
                  <a:pt x="1166877" y="0"/>
                </a:lnTo>
                <a:lnTo>
                  <a:pt x="1166877" y="1164756"/>
                </a:lnTo>
                <a:lnTo>
                  <a:pt x="0" y="116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067825" y="1028700"/>
            <a:ext cx="5895733" cy="8605000"/>
          </a:xfrm>
          <a:custGeom>
            <a:avLst/>
            <a:gdLst/>
            <a:ahLst/>
            <a:cxnLst/>
            <a:rect l="l" t="t" r="r" b="b"/>
            <a:pathLst>
              <a:path w="5895733" h="8605000">
                <a:moveTo>
                  <a:pt x="0" y="0"/>
                </a:moveTo>
                <a:lnTo>
                  <a:pt x="5895733" y="0"/>
                </a:lnTo>
                <a:lnTo>
                  <a:pt x="5895733" y="8605000"/>
                </a:lnTo>
                <a:lnTo>
                  <a:pt x="0" y="860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77040" y="1425004"/>
            <a:ext cx="5525521" cy="8208695"/>
          </a:xfrm>
          <a:custGeom>
            <a:avLst/>
            <a:gdLst/>
            <a:ahLst/>
            <a:cxnLst/>
            <a:rect l="l" t="t" r="r" b="b"/>
            <a:pathLst>
              <a:path w="5525521" h="8208695">
                <a:moveTo>
                  <a:pt x="0" y="0"/>
                </a:moveTo>
                <a:lnTo>
                  <a:pt x="5525520" y="0"/>
                </a:lnTo>
                <a:lnTo>
                  <a:pt x="5525520" y="8208696"/>
                </a:lnTo>
                <a:lnTo>
                  <a:pt x="0" y="8208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638420" y="4376276"/>
            <a:ext cx="6678000" cy="335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Presented by:</a:t>
            </a:r>
          </a:p>
          <a:p>
            <a:pPr algn="ctr">
              <a:lnSpc>
                <a:spcPct val="100000"/>
              </a:lnSpc>
            </a:pPr>
            <a:r>
              <a:rPr lang="en-IN" sz="3200" dirty="0">
                <a:latin typeface="Bahnschrift SemiBold" panose="020B0502040204020203" pitchFamily="34" charset="0"/>
              </a:rPr>
              <a:t>   Ahemad Patwe             Roll No. 108</a:t>
            </a:r>
          </a:p>
          <a:p>
            <a:pPr algn="ctr">
              <a:lnSpc>
                <a:spcPct val="100000"/>
              </a:lnSpc>
            </a:pPr>
            <a:r>
              <a:rPr lang="en-IN" sz="3200" dirty="0">
                <a:latin typeface="Bahnschrift SemiBold" panose="020B0502040204020203" pitchFamily="34" charset="0"/>
              </a:rPr>
              <a:t> Alfiya Patel                  Roll No.109</a:t>
            </a:r>
          </a:p>
          <a:p>
            <a:pPr algn="ctr">
              <a:lnSpc>
                <a:spcPct val="100000"/>
              </a:lnSpc>
            </a:pPr>
            <a:r>
              <a:rPr lang="en-IN" sz="3200" dirty="0">
                <a:latin typeface="Bahnschrift SemiBold" panose="020B0502040204020203" pitchFamily="34" charset="0"/>
              </a:rPr>
              <a:t>Mangesh </a:t>
            </a:r>
            <a:r>
              <a:rPr lang="en-IN" sz="3200" dirty="0" err="1">
                <a:latin typeface="Bahnschrift SemiBold" panose="020B0502040204020203" pitchFamily="34" charset="0"/>
              </a:rPr>
              <a:t>Gofane</a:t>
            </a:r>
            <a:r>
              <a:rPr lang="en-IN" sz="3200" dirty="0">
                <a:latin typeface="Bahnschrift SemiBold" panose="020B0502040204020203" pitchFamily="34" charset="0"/>
              </a:rPr>
              <a:t>         Roll No.110  </a:t>
            </a:r>
          </a:p>
          <a:p>
            <a:pPr algn="ctr"/>
            <a:r>
              <a:rPr lang="en-IN" sz="3200" dirty="0">
                <a:latin typeface="Bahnschrift SemiBold" panose="020B0502040204020203" pitchFamily="34" charset="0"/>
              </a:rPr>
              <a:t> Dnyaneshwar Rode     Roll No.107  </a:t>
            </a:r>
          </a:p>
          <a:p>
            <a:pPr algn="ctr">
              <a:lnSpc>
                <a:spcPct val="100000"/>
              </a:lnSpc>
            </a:pPr>
            <a:endParaRPr lang="en-IN" sz="3200" dirty="0"/>
          </a:p>
          <a:p>
            <a:pPr algn="ctr">
              <a:lnSpc>
                <a:spcPct val="100000"/>
              </a:lnSpc>
            </a:pPr>
            <a:endParaRPr lang="en-US" sz="3000" dirty="0">
              <a:solidFill>
                <a:schemeClr val="accent5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39179" y="7468277"/>
            <a:ext cx="6678000" cy="92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Under the guidance of Prof Sanjay </a:t>
            </a:r>
            <a:r>
              <a:rPr lang="en-US" sz="3299" dirty="0" err="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gunjal</a:t>
            </a:r>
            <a:r>
              <a:rPr lang="en-US" sz="3299" dirty="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23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757656">
            <a:off x="-2268026" y="-422948"/>
            <a:ext cx="8967709" cy="2903296"/>
          </a:xfrm>
          <a:custGeom>
            <a:avLst/>
            <a:gdLst/>
            <a:ahLst/>
            <a:cxnLst/>
            <a:rect l="l" t="t" r="r" b="b"/>
            <a:pathLst>
              <a:path w="8967709" h="2903296">
                <a:moveTo>
                  <a:pt x="0" y="0"/>
                </a:moveTo>
                <a:lnTo>
                  <a:pt x="8967709" y="0"/>
                </a:lnTo>
                <a:lnTo>
                  <a:pt x="8967709" y="2903296"/>
                </a:lnTo>
                <a:lnTo>
                  <a:pt x="0" y="2903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27055" y="5729877"/>
            <a:ext cx="4609198" cy="6434160"/>
          </a:xfrm>
          <a:custGeom>
            <a:avLst/>
            <a:gdLst/>
            <a:ahLst/>
            <a:cxnLst/>
            <a:rect l="l" t="t" r="r" b="b"/>
            <a:pathLst>
              <a:path w="4609198" h="6434160">
                <a:moveTo>
                  <a:pt x="0" y="0"/>
                </a:moveTo>
                <a:lnTo>
                  <a:pt x="4609198" y="0"/>
                </a:lnTo>
                <a:lnTo>
                  <a:pt x="4609198" y="6434160"/>
                </a:lnTo>
                <a:lnTo>
                  <a:pt x="0" y="6434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93672" y="1238250"/>
            <a:ext cx="12531496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9600" dirty="0"/>
              <a:t>PROBLEM STATEMENT</a:t>
            </a:r>
            <a:endParaRPr lang="en-US" sz="12664" dirty="0">
              <a:solidFill>
                <a:srgbClr val="FF914D"/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1706" y="3307967"/>
            <a:ext cx="16041054" cy="527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b="1" dirty="0"/>
              <a:t>Social Network Friend Recommendation</a:t>
            </a:r>
            <a:endParaRPr lang="en-IN" sz="4400" dirty="0"/>
          </a:p>
          <a:p>
            <a:r>
              <a:rPr lang="en-IN" sz="4400" dirty="0"/>
              <a:t>This project represents users as nodes and their friendships as directed edges. Using </a:t>
            </a:r>
            <a:r>
              <a:rPr lang="en-IN" sz="4400" dirty="0" err="1"/>
              <a:t>Warshall’s</a:t>
            </a:r>
            <a:r>
              <a:rPr lang="en-IN" sz="4400" dirty="0"/>
              <a:t> Algorithm, the system calculates the </a:t>
            </a:r>
            <a:r>
              <a:rPr lang="en-IN" sz="4400" b="1" dirty="0"/>
              <a:t>transitive closure</a:t>
            </a:r>
            <a:r>
              <a:rPr lang="en-IN" sz="4400" dirty="0"/>
              <a:t> to find indirect connections, helping recommend:</a:t>
            </a:r>
          </a:p>
          <a:p>
            <a:pPr lvl="0"/>
            <a:r>
              <a:rPr lang="en-IN" sz="4400" dirty="0"/>
              <a:t>Mutual friends (friends-of-friends).</a:t>
            </a:r>
          </a:p>
          <a:p>
            <a:pPr lvl="0"/>
            <a:r>
              <a:rPr lang="en-IN" sz="4400" dirty="0"/>
              <a:t>Isolated users with fewer connections.</a:t>
            </a:r>
          </a:p>
          <a:p>
            <a:pPr lvl="0"/>
            <a:r>
              <a:rPr lang="en-IN" sz="4400" dirty="0"/>
              <a:t>Communities or clusters of users in the network.</a:t>
            </a:r>
          </a:p>
          <a:p>
            <a:pPr algn="just">
              <a:lnSpc>
                <a:spcPct val="100000"/>
              </a:lnSpc>
            </a:pPr>
            <a:endParaRPr lang="en-US" sz="3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65930" y="1276065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-1371600" y="1181100"/>
            <a:ext cx="13052557" cy="1090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0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graph representation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6581" y="2824346"/>
            <a:ext cx="6802584" cy="6958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400" dirty="0"/>
              <a:t>A social network can be represented using a </a:t>
            </a:r>
            <a:r>
              <a:rPr lang="en-IN" sz="3400" b="1" dirty="0"/>
              <a:t>directed graph</a:t>
            </a:r>
            <a:r>
              <a:rPr lang="en-IN" sz="3400" dirty="0"/>
              <a:t>.</a:t>
            </a:r>
          </a:p>
          <a:p>
            <a:pPr lvl="0"/>
            <a:r>
              <a:rPr lang="en-IN" sz="3400" b="1" dirty="0"/>
              <a:t>Nodes / Vertices → Users</a:t>
            </a:r>
            <a:endParaRPr lang="en-IN" sz="3400" dirty="0"/>
          </a:p>
          <a:p>
            <a:pPr lvl="0"/>
            <a:r>
              <a:rPr lang="en-IN" sz="3400" b="1" dirty="0"/>
              <a:t>Directed Edges → Friendships or connections</a:t>
            </a:r>
            <a:endParaRPr lang="en-IN" sz="3400" dirty="0"/>
          </a:p>
          <a:p>
            <a:pPr lvl="0"/>
            <a:r>
              <a:rPr lang="en-IN" sz="3400" dirty="0"/>
              <a:t>An arrow shows the </a:t>
            </a:r>
            <a:r>
              <a:rPr lang="en-IN" sz="3400" b="1" dirty="0"/>
              <a:t>direction of a connection</a:t>
            </a:r>
            <a:r>
              <a:rPr lang="en-IN" sz="3400" dirty="0"/>
              <a:t>.</a:t>
            </a:r>
          </a:p>
          <a:p>
            <a:r>
              <a:rPr lang="en-IN" sz="3400" b="1" dirty="0"/>
              <a:t>Example:</a:t>
            </a:r>
            <a:endParaRPr lang="en-IN" sz="3400" dirty="0"/>
          </a:p>
          <a:p>
            <a:r>
              <a:rPr lang="en-IN" sz="3400" dirty="0"/>
              <a:t>A → B → C</a:t>
            </a:r>
          </a:p>
          <a:p>
            <a:r>
              <a:rPr lang="en-IN" sz="3400" dirty="0"/>
              <a:t>Here, A is connected to B and B is connected to C.</a:t>
            </a:r>
          </a:p>
          <a:p>
            <a:r>
              <a:rPr lang="en-IN" sz="3400" dirty="0"/>
              <a:t>Therefore, </a:t>
            </a:r>
            <a:r>
              <a:rPr lang="en-IN" sz="3400" b="1" dirty="0"/>
              <a:t>A can reach C through B</a:t>
            </a:r>
            <a:r>
              <a:rPr lang="en-IN" sz="3400" dirty="0"/>
              <a:t>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738FBD-4CC7-2677-104F-8DD8DC86E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6" y="3162300"/>
            <a:ext cx="8118768" cy="5691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681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770" y="1011768"/>
            <a:ext cx="15756140" cy="8229839"/>
            <a:chOff x="0" y="-57150"/>
            <a:chExt cx="4149765" cy="21675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87056" y="769595"/>
            <a:ext cx="1168708" cy="1364733"/>
          </a:xfrm>
          <a:custGeom>
            <a:avLst/>
            <a:gdLst/>
            <a:ahLst/>
            <a:cxnLst/>
            <a:rect l="l" t="t" r="r" b="b"/>
            <a:pathLst>
              <a:path w="1168708" h="1364733">
                <a:moveTo>
                  <a:pt x="0" y="0"/>
                </a:moveTo>
                <a:lnTo>
                  <a:pt x="1168709" y="0"/>
                </a:lnTo>
                <a:lnTo>
                  <a:pt x="1168709" y="1364734"/>
                </a:lnTo>
                <a:lnTo>
                  <a:pt x="0" y="1364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79167">
            <a:off x="12627202" y="3096344"/>
            <a:ext cx="2417976" cy="1994528"/>
          </a:xfrm>
          <a:custGeom>
            <a:avLst/>
            <a:gdLst/>
            <a:ahLst/>
            <a:cxnLst/>
            <a:rect l="l" t="t" r="r" b="b"/>
            <a:pathLst>
              <a:path w="2417976" h="3418732">
                <a:moveTo>
                  <a:pt x="0" y="0"/>
                </a:moveTo>
                <a:lnTo>
                  <a:pt x="2417976" y="0"/>
                </a:lnTo>
                <a:lnTo>
                  <a:pt x="2417976" y="3418732"/>
                </a:lnTo>
                <a:lnTo>
                  <a:pt x="0" y="3418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79765">
            <a:off x="16320284" y="595312"/>
            <a:ext cx="1014998" cy="1014998"/>
          </a:xfrm>
          <a:custGeom>
            <a:avLst/>
            <a:gdLst/>
            <a:ahLst/>
            <a:cxnLst/>
            <a:rect l="l" t="t" r="r" b="b"/>
            <a:pathLst>
              <a:path w="1014998" h="1014998">
                <a:moveTo>
                  <a:pt x="0" y="0"/>
                </a:moveTo>
                <a:lnTo>
                  <a:pt x="1014998" y="0"/>
                </a:lnTo>
                <a:lnTo>
                  <a:pt x="1014998" y="1014998"/>
                </a:lnTo>
                <a:lnTo>
                  <a:pt x="0" y="1014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46321" y="1675971"/>
            <a:ext cx="5937586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400" dirty="0"/>
              <a:t>An adjacency matrix represents the connections between users using </a:t>
            </a:r>
            <a:r>
              <a:rPr lang="en-IN" sz="4400" b="1" dirty="0"/>
              <a:t>0s and 1s</a:t>
            </a:r>
            <a:r>
              <a:rPr lang="en-IN" sz="4400" dirty="0"/>
              <a:t>.</a:t>
            </a:r>
          </a:p>
          <a:p>
            <a:pPr algn="ctr">
              <a:lnSpc>
                <a:spcPct val="100000"/>
              </a:lnSpc>
            </a:pPr>
            <a:endParaRPr lang="en-IN" sz="4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ct val="100000"/>
              </a:lnSpc>
            </a:pPr>
            <a:r>
              <a:rPr lang="en-IN" sz="4400" dirty="0"/>
              <a:t>The matrix provides the starting point for calculating the </a:t>
            </a:r>
            <a:r>
              <a:rPr lang="en-IN" sz="4400" b="1" dirty="0"/>
              <a:t>transitive closure</a:t>
            </a:r>
            <a:r>
              <a:rPr lang="en-IN" sz="4400" dirty="0"/>
              <a:t>.</a:t>
            </a: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6F262F-570B-BB87-E3C0-20BCB3F9C7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06" y="1409701"/>
            <a:ext cx="9213391" cy="72013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7591" y="1143014"/>
            <a:ext cx="15756140" cy="8343886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93288" y="1114044"/>
            <a:ext cx="15995202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7200" dirty="0">
                <a:solidFill>
                  <a:schemeClr val="accent5">
                    <a:lumMod val="50000"/>
                  </a:schemeClr>
                </a:solidFill>
              </a:rPr>
              <a:t>TRANSITIVE CLOSURE</a:t>
            </a:r>
            <a:endParaRPr lang="en-US" sz="6899" dirty="0">
              <a:solidFill>
                <a:schemeClr val="accent5">
                  <a:lumMod val="50000"/>
                </a:schemeClr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71800" y="2552700"/>
            <a:ext cx="14241658" cy="7388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dirty="0"/>
              <a:t>Transitive closure determines whether a user can reach another user </a:t>
            </a:r>
            <a:r>
              <a:rPr lang="en-IN" sz="4400" b="1" dirty="0"/>
              <a:t>directly or indirectly</a:t>
            </a:r>
            <a:r>
              <a:rPr lang="en-IN" sz="4400" dirty="0"/>
              <a:t>.</a:t>
            </a:r>
          </a:p>
          <a:p>
            <a:r>
              <a:rPr lang="en-IN" sz="4400" b="1" dirty="0"/>
              <a:t>Example:</a:t>
            </a:r>
            <a:endParaRPr lang="en-IN" sz="4400" dirty="0"/>
          </a:p>
          <a:p>
            <a:r>
              <a:rPr lang="en-IN" sz="2800" dirty="0"/>
              <a:t>A → B</a:t>
            </a:r>
          </a:p>
          <a:p>
            <a:r>
              <a:rPr lang="en-IN" sz="2800" dirty="0"/>
              <a:t>B → C</a:t>
            </a:r>
          </a:p>
          <a:p>
            <a:r>
              <a:rPr lang="en-IN" sz="4400" dirty="0"/>
              <a:t>Therefore:</a:t>
            </a:r>
          </a:p>
          <a:p>
            <a:r>
              <a:rPr lang="en-IN" sz="2800" dirty="0"/>
              <a:t>A → C</a:t>
            </a:r>
          </a:p>
          <a:p>
            <a:r>
              <a:rPr lang="en-IN" sz="4400" dirty="0"/>
              <a:t>Although A does not have a direct connection with C, A can reach C through B.</a:t>
            </a:r>
          </a:p>
          <a:p>
            <a:r>
              <a:rPr lang="en-IN" sz="4400" b="1" dirty="0"/>
              <a:t>Purpose:</a:t>
            </a:r>
            <a:br>
              <a:rPr lang="en-IN" sz="4400" dirty="0"/>
            </a:br>
            <a:r>
              <a:rPr lang="en-IN" sz="4400" dirty="0"/>
              <a:t>To find all reachable connections in the network.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417035" y="399121"/>
            <a:ext cx="2309944" cy="3240993"/>
          </a:xfrm>
          <a:custGeom>
            <a:avLst/>
            <a:gdLst/>
            <a:ahLst/>
            <a:cxnLst/>
            <a:rect l="l" t="t" r="r" b="b"/>
            <a:pathLst>
              <a:path w="2309944" h="3240993">
                <a:moveTo>
                  <a:pt x="0" y="0"/>
                </a:moveTo>
                <a:lnTo>
                  <a:pt x="2309944" y="0"/>
                </a:lnTo>
                <a:lnTo>
                  <a:pt x="2309944" y="3240993"/>
                </a:lnTo>
                <a:lnTo>
                  <a:pt x="0" y="3240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302501" y="114314"/>
            <a:ext cx="1716994" cy="2057400"/>
          </a:xfrm>
          <a:custGeom>
            <a:avLst/>
            <a:gdLst/>
            <a:ahLst/>
            <a:cxnLst/>
            <a:rect l="l" t="t" r="r" b="b"/>
            <a:pathLst>
              <a:path w="1716994" h="2057400">
                <a:moveTo>
                  <a:pt x="0" y="0"/>
                </a:moveTo>
                <a:lnTo>
                  <a:pt x="1716994" y="0"/>
                </a:lnTo>
                <a:lnTo>
                  <a:pt x="171699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6820" y="1329210"/>
            <a:ext cx="1743635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6000" dirty="0" err="1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warshall</a:t>
            </a:r>
            <a:r>
              <a:rPr lang="en-US" sz="60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`s Algorithm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94292" y="2252540"/>
            <a:ext cx="12268200" cy="7450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dirty="0" err="1"/>
              <a:t>Warshall’s</a:t>
            </a:r>
            <a:r>
              <a:rPr lang="en-IN" sz="4000" dirty="0"/>
              <a:t> Algorithm is used to calculate the </a:t>
            </a:r>
            <a:r>
              <a:rPr lang="en-IN" sz="4000" b="1" dirty="0"/>
              <a:t>transitive closure of a directed graph</a:t>
            </a:r>
            <a:r>
              <a:rPr lang="en-IN" sz="4000" dirty="0"/>
              <a:t>.</a:t>
            </a:r>
          </a:p>
          <a:p>
            <a:r>
              <a:rPr lang="en-IN" sz="4000" b="1" dirty="0"/>
              <a:t>Formula:</a:t>
            </a:r>
            <a:endParaRPr lang="en-IN" sz="4000" dirty="0"/>
          </a:p>
          <a:p>
            <a:r>
              <a:rPr lang="en-IN" sz="4000" b="1" dirty="0"/>
              <a:t>R[</a:t>
            </a:r>
            <a:r>
              <a:rPr lang="en-IN" sz="4000" b="1" dirty="0" err="1"/>
              <a:t>i</a:t>
            </a:r>
            <a:r>
              <a:rPr lang="en-IN" sz="4000" b="1" dirty="0"/>
              <a:t>][j] = R[</a:t>
            </a:r>
            <a:r>
              <a:rPr lang="en-IN" sz="4000" b="1" dirty="0" err="1"/>
              <a:t>i</a:t>
            </a:r>
            <a:r>
              <a:rPr lang="en-IN" sz="4000" b="1" dirty="0"/>
              <a:t>][j] OR (R[</a:t>
            </a:r>
            <a:r>
              <a:rPr lang="en-IN" sz="4000" b="1" dirty="0" err="1"/>
              <a:t>i</a:t>
            </a:r>
            <a:r>
              <a:rPr lang="en-IN" sz="4000" b="1" dirty="0"/>
              <a:t>][k] AND R[k][j])</a:t>
            </a:r>
            <a:endParaRPr lang="en-IN" sz="4000" dirty="0"/>
          </a:p>
          <a:p>
            <a:r>
              <a:rPr lang="en-IN" sz="4000" dirty="0"/>
              <a:t>Where:</a:t>
            </a:r>
          </a:p>
          <a:p>
            <a:pPr lvl="0"/>
            <a:r>
              <a:rPr lang="en-IN" sz="4000" b="1" dirty="0" err="1"/>
              <a:t>i</a:t>
            </a:r>
            <a:r>
              <a:rPr lang="en-IN" sz="4000" dirty="0"/>
              <a:t> = Starting user</a:t>
            </a:r>
          </a:p>
          <a:p>
            <a:pPr lvl="0"/>
            <a:r>
              <a:rPr lang="en-IN" sz="4000" b="1" dirty="0"/>
              <a:t>j</a:t>
            </a:r>
            <a:r>
              <a:rPr lang="en-IN" sz="4000" dirty="0"/>
              <a:t> = Destination user</a:t>
            </a:r>
          </a:p>
          <a:p>
            <a:pPr lvl="0"/>
            <a:r>
              <a:rPr lang="en-IN" sz="4000" b="1" dirty="0"/>
              <a:t>k</a:t>
            </a:r>
            <a:r>
              <a:rPr lang="en-IN" sz="4000" dirty="0"/>
              <a:t> = Intermediate user</a:t>
            </a:r>
          </a:p>
          <a:p>
            <a:r>
              <a:rPr lang="en-IN" sz="4000" b="1" dirty="0"/>
              <a:t>Basic Idea:</a:t>
            </a:r>
            <a:endParaRPr lang="en-IN" sz="4000" dirty="0"/>
          </a:p>
          <a:p>
            <a:r>
              <a:rPr lang="en-IN" sz="4000" dirty="0"/>
              <a:t>If user </a:t>
            </a:r>
            <a:r>
              <a:rPr lang="en-IN" sz="4000" b="1" dirty="0" err="1"/>
              <a:t>i</a:t>
            </a:r>
            <a:r>
              <a:rPr lang="en-IN" sz="4000" dirty="0"/>
              <a:t> can reach user </a:t>
            </a:r>
            <a:r>
              <a:rPr lang="en-IN" sz="4000" b="1" dirty="0"/>
              <a:t>k</a:t>
            </a:r>
            <a:r>
              <a:rPr lang="en-IN" sz="4000" dirty="0"/>
              <a:t>, and user </a:t>
            </a:r>
            <a:r>
              <a:rPr lang="en-IN" sz="4000" b="1" dirty="0"/>
              <a:t>k</a:t>
            </a:r>
            <a:r>
              <a:rPr lang="en-IN" sz="4000" dirty="0"/>
              <a:t> can reach user </a:t>
            </a:r>
            <a:r>
              <a:rPr lang="en-IN" sz="4000" b="1" dirty="0"/>
              <a:t>j</a:t>
            </a:r>
            <a:r>
              <a:rPr lang="en-IN" sz="4000" dirty="0"/>
              <a:t>, then user </a:t>
            </a:r>
            <a:r>
              <a:rPr lang="en-IN" sz="4000" b="1" dirty="0" err="1"/>
              <a:t>i</a:t>
            </a:r>
            <a:r>
              <a:rPr lang="en-IN" sz="4000" dirty="0"/>
              <a:t> can reach user </a:t>
            </a:r>
            <a:r>
              <a:rPr lang="en-IN" sz="4000" b="1" dirty="0"/>
              <a:t>j</a:t>
            </a:r>
            <a:r>
              <a:rPr lang="en-IN" sz="4000" dirty="0"/>
              <a:t>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506787" y="6456325"/>
            <a:ext cx="3619991" cy="2142241"/>
          </a:xfrm>
          <a:custGeom>
            <a:avLst/>
            <a:gdLst/>
            <a:ahLst/>
            <a:cxnLst/>
            <a:rect l="l" t="t" r="r" b="b"/>
            <a:pathLst>
              <a:path w="3619991" h="2142241">
                <a:moveTo>
                  <a:pt x="0" y="0"/>
                </a:moveTo>
                <a:lnTo>
                  <a:pt x="3619991" y="0"/>
                </a:lnTo>
                <a:lnTo>
                  <a:pt x="3619991" y="2142241"/>
                </a:lnTo>
                <a:lnTo>
                  <a:pt x="0" y="2142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206619">
            <a:off x="15642465" y="710550"/>
            <a:ext cx="1628124" cy="2681043"/>
          </a:xfrm>
          <a:custGeom>
            <a:avLst/>
            <a:gdLst/>
            <a:ahLst/>
            <a:cxnLst/>
            <a:rect l="l" t="t" r="r" b="b"/>
            <a:pathLst>
              <a:path w="1628124" h="2681043">
                <a:moveTo>
                  <a:pt x="0" y="0"/>
                </a:moveTo>
                <a:lnTo>
                  <a:pt x="1628125" y="0"/>
                </a:lnTo>
                <a:lnTo>
                  <a:pt x="1628125" y="2681043"/>
                </a:lnTo>
                <a:lnTo>
                  <a:pt x="0" y="2681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55264" y="3970654"/>
            <a:ext cx="2471514" cy="2345691"/>
          </a:xfrm>
          <a:custGeom>
            <a:avLst/>
            <a:gdLst/>
            <a:ahLst/>
            <a:cxnLst/>
            <a:rect l="l" t="t" r="r" b="b"/>
            <a:pathLst>
              <a:path w="2471514" h="2345691">
                <a:moveTo>
                  <a:pt x="0" y="0"/>
                </a:moveTo>
                <a:lnTo>
                  <a:pt x="2471514" y="0"/>
                </a:lnTo>
                <a:lnTo>
                  <a:pt x="2471514" y="2345692"/>
                </a:lnTo>
                <a:lnTo>
                  <a:pt x="0" y="234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67278-53ED-0E55-5722-45F7918A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FA943D-4B1D-3F7A-E94C-DE66DC2AB13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F276100-3D01-8C81-B43A-D8EB8531866A}"/>
              </a:ext>
            </a:extLst>
          </p:cNvPr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B877DB2-3FF7-5322-D245-B020D28E85D2}"/>
                </a:ext>
              </a:extLst>
            </p:cNvPr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FE6DD64-2A98-FED2-4151-F7DFF0D7FB8E}"/>
                </a:ext>
              </a:extLst>
            </p:cNvPr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6B11854-700E-7933-C47B-DC2B0291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661987"/>
            <a:ext cx="15925800" cy="896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7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6800" y="1116427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51130">
            <a:off x="13621658" y="12298"/>
            <a:ext cx="3613432" cy="1918030"/>
          </a:xfrm>
          <a:custGeom>
            <a:avLst/>
            <a:gdLst/>
            <a:ahLst/>
            <a:cxnLst/>
            <a:rect l="l" t="t" r="r" b="b"/>
            <a:pathLst>
              <a:path w="3613432" h="1918030">
                <a:moveTo>
                  <a:pt x="0" y="0"/>
                </a:moveTo>
                <a:lnTo>
                  <a:pt x="3613432" y="0"/>
                </a:lnTo>
                <a:lnTo>
                  <a:pt x="3613432" y="1918030"/>
                </a:lnTo>
                <a:lnTo>
                  <a:pt x="0" y="1918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420600" y="119731"/>
            <a:ext cx="1529957" cy="2057400"/>
          </a:xfrm>
          <a:custGeom>
            <a:avLst/>
            <a:gdLst/>
            <a:ahLst/>
            <a:cxnLst/>
            <a:rect l="l" t="t" r="r" b="b"/>
            <a:pathLst>
              <a:path w="1529957" h="2057400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55837">
            <a:off x="562395" y="191860"/>
            <a:ext cx="1432895" cy="1955564"/>
          </a:xfrm>
          <a:custGeom>
            <a:avLst/>
            <a:gdLst/>
            <a:ahLst/>
            <a:cxnLst/>
            <a:rect l="l" t="t" r="r" b="b"/>
            <a:pathLst>
              <a:path w="1432895" h="1955564">
                <a:moveTo>
                  <a:pt x="0" y="0"/>
                </a:moveTo>
                <a:lnTo>
                  <a:pt x="1432895" y="0"/>
                </a:lnTo>
                <a:lnTo>
                  <a:pt x="1432895" y="1955565"/>
                </a:lnTo>
                <a:lnTo>
                  <a:pt x="0" y="1955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 rot="1890125">
            <a:off x="14372727" y="8452833"/>
            <a:ext cx="3521464" cy="941191"/>
          </a:xfrm>
          <a:custGeom>
            <a:avLst/>
            <a:gdLst/>
            <a:ahLst/>
            <a:cxnLst/>
            <a:rect l="l" t="t" r="r" b="b"/>
            <a:pathLst>
              <a:path w="3521464" h="941191">
                <a:moveTo>
                  <a:pt x="0" y="0"/>
                </a:moveTo>
                <a:lnTo>
                  <a:pt x="3521464" y="0"/>
                </a:lnTo>
                <a:lnTo>
                  <a:pt x="3521464" y="941191"/>
                </a:lnTo>
                <a:lnTo>
                  <a:pt x="0" y="941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2819400" y="1224365"/>
            <a:ext cx="17436353" cy="1107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6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Friend recommendation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8842" y="2521686"/>
            <a:ext cx="17578836" cy="7081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dirty="0"/>
              <a:t>The transitive closure can be used to provide useful information about the social network.</a:t>
            </a:r>
          </a:p>
          <a:p>
            <a:r>
              <a:rPr lang="en-IN" sz="3200" b="1" dirty="0"/>
              <a:t>Mutual Friends</a:t>
            </a:r>
          </a:p>
          <a:p>
            <a:pPr lvl="0"/>
            <a:r>
              <a:rPr lang="en-IN" sz="3200" dirty="0"/>
              <a:t>Find friends-of-friends.</a:t>
            </a:r>
          </a:p>
          <a:p>
            <a:pPr lvl="0"/>
            <a:r>
              <a:rPr lang="en-IN" sz="3200" dirty="0"/>
              <a:t>Recommend potential connections.</a:t>
            </a:r>
          </a:p>
          <a:p>
            <a:r>
              <a:rPr lang="en-IN" sz="3200" b="1" dirty="0"/>
              <a:t>Isolated Users</a:t>
            </a:r>
          </a:p>
          <a:p>
            <a:pPr lvl="0"/>
            <a:r>
              <a:rPr lang="en-IN" sz="3200" dirty="0"/>
              <a:t>Identify users with very few or no connections.</a:t>
            </a:r>
          </a:p>
          <a:p>
            <a:r>
              <a:rPr lang="en-IN" sz="3200" b="1" dirty="0"/>
              <a:t>Communities</a:t>
            </a:r>
          </a:p>
          <a:p>
            <a:pPr lvl="0"/>
            <a:r>
              <a:rPr lang="en-IN" sz="3200" dirty="0"/>
              <a:t>Identify groups or clusters of connected users.</a:t>
            </a:r>
          </a:p>
          <a:p>
            <a:r>
              <a:rPr lang="en-IN" sz="3200" b="1" dirty="0"/>
              <a:t>Example:</a:t>
            </a:r>
            <a:endParaRPr lang="en-IN" sz="3200" dirty="0"/>
          </a:p>
          <a:p>
            <a:r>
              <a:rPr lang="en-IN" sz="3200" dirty="0"/>
              <a:t>A → B → C</a:t>
            </a:r>
          </a:p>
          <a:p>
            <a:endParaRPr lang="en-IN" sz="3200" dirty="0"/>
          </a:p>
          <a:p>
            <a:r>
              <a:rPr lang="en-IN" sz="3200" dirty="0"/>
              <a:t>Recommendation:</a:t>
            </a:r>
          </a:p>
          <a:p>
            <a:r>
              <a:rPr lang="en-IN" sz="3200" dirty="0"/>
              <a:t>C may be recommended to A.</a:t>
            </a:r>
          </a:p>
          <a:p>
            <a:pPr algn="ctr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5309-4F1E-9AA7-78E8-F0F09BD8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022D2B-88EA-9A79-21B3-912E7569B6A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B8D4E6F-C4BD-D784-D7DF-F815688BC0ED}"/>
              </a:ext>
            </a:extLst>
          </p:cNvPr>
          <p:cNvGrpSpPr/>
          <p:nvPr/>
        </p:nvGrpSpPr>
        <p:grpSpPr>
          <a:xfrm>
            <a:off x="1066800" y="1116427"/>
            <a:ext cx="15756140" cy="8012848"/>
            <a:chOff x="0" y="0"/>
            <a:chExt cx="4149765" cy="211038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0A304F1-856A-7A74-E4E8-A687E2DBF182}"/>
                </a:ext>
              </a:extLst>
            </p:cNvPr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57C811F-3DFD-D613-A7E4-5617D5B3A9BC}"/>
                </a:ext>
              </a:extLst>
            </p:cNvPr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E53D5DD-DFE5-748C-806F-94A3C86096B5}"/>
              </a:ext>
            </a:extLst>
          </p:cNvPr>
          <p:cNvSpPr/>
          <p:nvPr/>
        </p:nvSpPr>
        <p:spPr>
          <a:xfrm rot="-851130">
            <a:off x="13621658" y="12298"/>
            <a:ext cx="3613432" cy="1918030"/>
          </a:xfrm>
          <a:custGeom>
            <a:avLst/>
            <a:gdLst/>
            <a:ahLst/>
            <a:cxnLst/>
            <a:rect l="l" t="t" r="r" b="b"/>
            <a:pathLst>
              <a:path w="3613432" h="1918030">
                <a:moveTo>
                  <a:pt x="0" y="0"/>
                </a:moveTo>
                <a:lnTo>
                  <a:pt x="3613432" y="0"/>
                </a:lnTo>
                <a:lnTo>
                  <a:pt x="3613432" y="1918030"/>
                </a:lnTo>
                <a:lnTo>
                  <a:pt x="0" y="1918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561FEB5-F551-C807-B2AD-46ED97A38315}"/>
              </a:ext>
            </a:extLst>
          </p:cNvPr>
          <p:cNvSpPr/>
          <p:nvPr/>
        </p:nvSpPr>
        <p:spPr>
          <a:xfrm>
            <a:off x="12420600" y="119731"/>
            <a:ext cx="1529957" cy="2057400"/>
          </a:xfrm>
          <a:custGeom>
            <a:avLst/>
            <a:gdLst/>
            <a:ahLst/>
            <a:cxnLst/>
            <a:rect l="l" t="t" r="r" b="b"/>
            <a:pathLst>
              <a:path w="1529957" h="2057400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E86E592-27BE-C08F-B348-9AF3C8FC8DA8}"/>
              </a:ext>
            </a:extLst>
          </p:cNvPr>
          <p:cNvSpPr/>
          <p:nvPr/>
        </p:nvSpPr>
        <p:spPr>
          <a:xfrm rot="755837">
            <a:off x="562395" y="191860"/>
            <a:ext cx="1432895" cy="1955564"/>
          </a:xfrm>
          <a:custGeom>
            <a:avLst/>
            <a:gdLst/>
            <a:ahLst/>
            <a:cxnLst/>
            <a:rect l="l" t="t" r="r" b="b"/>
            <a:pathLst>
              <a:path w="1432895" h="1955564">
                <a:moveTo>
                  <a:pt x="0" y="0"/>
                </a:moveTo>
                <a:lnTo>
                  <a:pt x="1432895" y="0"/>
                </a:lnTo>
                <a:lnTo>
                  <a:pt x="1432895" y="1955565"/>
                </a:lnTo>
                <a:lnTo>
                  <a:pt x="0" y="1955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3BA164E-021B-649D-0F15-08B6FE7BAAAD}"/>
              </a:ext>
            </a:extLst>
          </p:cNvPr>
          <p:cNvSpPr/>
          <p:nvPr/>
        </p:nvSpPr>
        <p:spPr>
          <a:xfrm rot="1890125">
            <a:off x="14372727" y="8452833"/>
            <a:ext cx="3521464" cy="941191"/>
          </a:xfrm>
          <a:custGeom>
            <a:avLst/>
            <a:gdLst/>
            <a:ahLst/>
            <a:cxnLst/>
            <a:rect l="l" t="t" r="r" b="b"/>
            <a:pathLst>
              <a:path w="3521464" h="941191">
                <a:moveTo>
                  <a:pt x="0" y="0"/>
                </a:moveTo>
                <a:lnTo>
                  <a:pt x="3521464" y="0"/>
                </a:lnTo>
                <a:lnTo>
                  <a:pt x="3521464" y="941191"/>
                </a:lnTo>
                <a:lnTo>
                  <a:pt x="0" y="941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2CBCA5-4574-8061-39E9-202BB40BBD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03" y="119731"/>
            <a:ext cx="17651997" cy="1004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88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D15F6-F3AA-5254-75B7-B4F56A30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FBE945-7EFC-910C-3100-9939F81F96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626F1E2-864B-B8DB-3DBF-23BBB5347C16}"/>
              </a:ext>
            </a:extLst>
          </p:cNvPr>
          <p:cNvGrpSpPr/>
          <p:nvPr/>
        </p:nvGrpSpPr>
        <p:grpSpPr>
          <a:xfrm>
            <a:off x="1066800" y="1116427"/>
            <a:ext cx="15756140" cy="8012848"/>
            <a:chOff x="0" y="0"/>
            <a:chExt cx="4149765" cy="211038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F1B0A33-ABE1-6B44-171C-B9C88B9427A3}"/>
                </a:ext>
              </a:extLst>
            </p:cNvPr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B9277A-CF48-488A-EA27-46753DD6E518}"/>
                </a:ext>
              </a:extLst>
            </p:cNvPr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5CA3042A-3C4A-D471-AC33-3B7090279E75}"/>
              </a:ext>
            </a:extLst>
          </p:cNvPr>
          <p:cNvSpPr/>
          <p:nvPr/>
        </p:nvSpPr>
        <p:spPr>
          <a:xfrm rot="-851130">
            <a:off x="13621658" y="12298"/>
            <a:ext cx="3613432" cy="1918030"/>
          </a:xfrm>
          <a:custGeom>
            <a:avLst/>
            <a:gdLst/>
            <a:ahLst/>
            <a:cxnLst/>
            <a:rect l="l" t="t" r="r" b="b"/>
            <a:pathLst>
              <a:path w="3613432" h="1918030">
                <a:moveTo>
                  <a:pt x="0" y="0"/>
                </a:moveTo>
                <a:lnTo>
                  <a:pt x="3613432" y="0"/>
                </a:lnTo>
                <a:lnTo>
                  <a:pt x="3613432" y="1918030"/>
                </a:lnTo>
                <a:lnTo>
                  <a:pt x="0" y="1918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C075350-9345-695A-7CC4-1A34A0BBCE42}"/>
              </a:ext>
            </a:extLst>
          </p:cNvPr>
          <p:cNvSpPr/>
          <p:nvPr/>
        </p:nvSpPr>
        <p:spPr>
          <a:xfrm>
            <a:off x="12420600" y="119731"/>
            <a:ext cx="1529957" cy="2057400"/>
          </a:xfrm>
          <a:custGeom>
            <a:avLst/>
            <a:gdLst/>
            <a:ahLst/>
            <a:cxnLst/>
            <a:rect l="l" t="t" r="r" b="b"/>
            <a:pathLst>
              <a:path w="1529957" h="2057400">
                <a:moveTo>
                  <a:pt x="0" y="0"/>
                </a:moveTo>
                <a:lnTo>
                  <a:pt x="1529957" y="0"/>
                </a:lnTo>
                <a:lnTo>
                  <a:pt x="1529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D8F861E-261C-973C-465D-F3D502A30EC5}"/>
              </a:ext>
            </a:extLst>
          </p:cNvPr>
          <p:cNvSpPr/>
          <p:nvPr/>
        </p:nvSpPr>
        <p:spPr>
          <a:xfrm rot="755837">
            <a:off x="562395" y="191860"/>
            <a:ext cx="1432895" cy="1955564"/>
          </a:xfrm>
          <a:custGeom>
            <a:avLst/>
            <a:gdLst/>
            <a:ahLst/>
            <a:cxnLst/>
            <a:rect l="l" t="t" r="r" b="b"/>
            <a:pathLst>
              <a:path w="1432895" h="1955564">
                <a:moveTo>
                  <a:pt x="0" y="0"/>
                </a:moveTo>
                <a:lnTo>
                  <a:pt x="1432895" y="0"/>
                </a:lnTo>
                <a:lnTo>
                  <a:pt x="1432895" y="1955565"/>
                </a:lnTo>
                <a:lnTo>
                  <a:pt x="0" y="1955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E6EDA5E-4C39-B3DC-658A-88D9954315FE}"/>
              </a:ext>
            </a:extLst>
          </p:cNvPr>
          <p:cNvSpPr/>
          <p:nvPr/>
        </p:nvSpPr>
        <p:spPr>
          <a:xfrm rot="1890125">
            <a:off x="14372727" y="8452833"/>
            <a:ext cx="3521464" cy="941191"/>
          </a:xfrm>
          <a:custGeom>
            <a:avLst/>
            <a:gdLst/>
            <a:ahLst/>
            <a:cxnLst/>
            <a:rect l="l" t="t" r="r" b="b"/>
            <a:pathLst>
              <a:path w="3521464" h="941191">
                <a:moveTo>
                  <a:pt x="0" y="0"/>
                </a:moveTo>
                <a:lnTo>
                  <a:pt x="3521464" y="0"/>
                </a:lnTo>
                <a:lnTo>
                  <a:pt x="3521464" y="941191"/>
                </a:lnTo>
                <a:lnTo>
                  <a:pt x="0" y="941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26D928-03AA-0C7A-2BA5-A2C408AC65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0" y="192397"/>
            <a:ext cx="17514207" cy="99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24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719822" y="-239"/>
            <a:ext cx="2467559" cy="3216013"/>
          </a:xfrm>
          <a:custGeom>
            <a:avLst/>
            <a:gdLst/>
            <a:ahLst/>
            <a:cxnLst/>
            <a:rect l="l" t="t" r="r" b="b"/>
            <a:pathLst>
              <a:path w="2467559" h="3216013">
                <a:moveTo>
                  <a:pt x="0" y="0"/>
                </a:moveTo>
                <a:lnTo>
                  <a:pt x="2467560" y="0"/>
                </a:lnTo>
                <a:lnTo>
                  <a:pt x="2467560" y="3216014"/>
                </a:lnTo>
                <a:lnTo>
                  <a:pt x="0" y="3216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94528" y="7959477"/>
            <a:ext cx="1434143" cy="2032937"/>
          </a:xfrm>
          <a:custGeom>
            <a:avLst/>
            <a:gdLst/>
            <a:ahLst/>
            <a:cxnLst/>
            <a:rect l="l" t="t" r="r" b="b"/>
            <a:pathLst>
              <a:path w="1434143" h="2032935">
                <a:moveTo>
                  <a:pt x="0" y="0"/>
                </a:moveTo>
                <a:lnTo>
                  <a:pt x="1434143" y="0"/>
                </a:lnTo>
                <a:lnTo>
                  <a:pt x="1434143" y="2032934"/>
                </a:lnTo>
                <a:lnTo>
                  <a:pt x="0" y="2032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/>
          <p:cNvSpPr/>
          <p:nvPr/>
        </p:nvSpPr>
        <p:spPr>
          <a:xfrm rot="-797725">
            <a:off x="14440110" y="6246014"/>
            <a:ext cx="1902473" cy="1665446"/>
          </a:xfrm>
          <a:custGeom>
            <a:avLst/>
            <a:gdLst/>
            <a:ahLst/>
            <a:cxnLst/>
            <a:rect l="l" t="t" r="r" b="b"/>
            <a:pathLst>
              <a:path w="2500369" h="2789459">
                <a:moveTo>
                  <a:pt x="0" y="0"/>
                </a:moveTo>
                <a:lnTo>
                  <a:pt x="2500370" y="0"/>
                </a:lnTo>
                <a:lnTo>
                  <a:pt x="2500370" y="2789459"/>
                </a:lnTo>
                <a:lnTo>
                  <a:pt x="0" y="2789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454151" y="1054529"/>
            <a:ext cx="14377357" cy="10902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0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Final result and analysis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6399" y="2144827"/>
            <a:ext cx="6629399" cy="7604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000" dirty="0"/>
              <a:t>From the transitive closure matrix:</a:t>
            </a:r>
          </a:p>
          <a:p>
            <a:r>
              <a:rPr lang="en-IN" sz="3000" b="1" dirty="0"/>
              <a:t>Direct Connections</a:t>
            </a:r>
            <a:endParaRPr lang="en-IN" sz="3000" dirty="0"/>
          </a:p>
          <a:p>
            <a:pPr lvl="0"/>
            <a:r>
              <a:rPr lang="en-IN" sz="3000" dirty="0"/>
              <a:t>A → B</a:t>
            </a:r>
          </a:p>
          <a:p>
            <a:pPr lvl="0"/>
            <a:r>
              <a:rPr lang="en-IN" sz="3000" dirty="0"/>
              <a:t>B → C</a:t>
            </a:r>
          </a:p>
          <a:p>
            <a:pPr lvl="0"/>
            <a:r>
              <a:rPr lang="en-IN" sz="3000" dirty="0"/>
              <a:t>C → D</a:t>
            </a:r>
          </a:p>
          <a:p>
            <a:r>
              <a:rPr lang="en-IN" sz="3000" b="1" dirty="0"/>
              <a:t>Indirect Connections</a:t>
            </a:r>
            <a:endParaRPr lang="en-IN" sz="3000" dirty="0"/>
          </a:p>
          <a:p>
            <a:pPr lvl="0"/>
            <a:r>
              <a:rPr lang="en-IN" sz="3000" dirty="0"/>
              <a:t>A → C through B</a:t>
            </a:r>
          </a:p>
          <a:p>
            <a:pPr lvl="0"/>
            <a:r>
              <a:rPr lang="en-IN" sz="3000" dirty="0"/>
              <a:t>A → D through B and C</a:t>
            </a:r>
          </a:p>
          <a:p>
            <a:pPr lvl="0"/>
            <a:r>
              <a:rPr lang="en-IN" sz="3000" dirty="0"/>
              <a:t>B → D through C</a:t>
            </a:r>
          </a:p>
          <a:p>
            <a:r>
              <a:rPr lang="en-IN" sz="3000" b="1" dirty="0"/>
              <a:t>Friend Recommendations</a:t>
            </a:r>
          </a:p>
          <a:p>
            <a:pPr lvl="0"/>
            <a:r>
              <a:rPr lang="en-IN" sz="3000" b="1" dirty="0"/>
              <a:t>A → C</a:t>
            </a:r>
            <a:r>
              <a:rPr lang="en-IN" sz="3000" dirty="0"/>
              <a:t> → C can be recommended to A.</a:t>
            </a:r>
          </a:p>
          <a:p>
            <a:pPr lvl="0"/>
            <a:r>
              <a:rPr lang="en-IN" sz="3000" b="1" dirty="0"/>
              <a:t>B → D</a:t>
            </a:r>
            <a:r>
              <a:rPr lang="en-IN" sz="3000" dirty="0"/>
              <a:t> → D can be recommended to B.</a:t>
            </a:r>
          </a:p>
          <a:p>
            <a:pPr lvl="0"/>
            <a:r>
              <a:rPr lang="en-IN" sz="3000" b="1" dirty="0"/>
              <a:t>A → D</a:t>
            </a:r>
            <a:r>
              <a:rPr lang="en-IN" sz="3000" dirty="0"/>
              <a:t> → D is an indirect connection of A.</a:t>
            </a:r>
          </a:p>
          <a:p>
            <a:r>
              <a:rPr lang="en-IN" sz="3000" dirty="0"/>
              <a:t>chain/community:</a:t>
            </a:r>
          </a:p>
          <a:p>
            <a:r>
              <a:rPr lang="en-IN" sz="3000" b="1" dirty="0"/>
              <a:t>A → B → C → D</a:t>
            </a:r>
            <a:endParaRPr lang="en-IN" sz="3000" dirty="0"/>
          </a:p>
          <a:p>
            <a:pPr algn="just">
              <a:lnSpc>
                <a:spcPts val="5408"/>
              </a:lnSpc>
            </a:pPr>
            <a:endParaRPr lang="en-US" sz="416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2A2B34-CAAF-AB56-5D2E-E4351FDACD20}"/>
              </a:ext>
            </a:extLst>
          </p:cNvPr>
          <p:cNvCxnSpPr/>
          <p:nvPr/>
        </p:nvCxnSpPr>
        <p:spPr>
          <a:xfrm>
            <a:off x="8458200" y="2144827"/>
            <a:ext cx="0" cy="688487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619089-8C48-231D-A94A-9FE063BFD884}"/>
              </a:ext>
            </a:extLst>
          </p:cNvPr>
          <p:cNvSpPr txBox="1"/>
          <p:nvPr/>
        </p:nvSpPr>
        <p:spPr>
          <a:xfrm>
            <a:off x="8690471" y="2078129"/>
            <a:ext cx="7848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Network Analysis</a:t>
            </a:r>
          </a:p>
          <a:p>
            <a:pPr lvl="0"/>
            <a:r>
              <a:rPr lang="en-IN" sz="3200" b="1" dirty="0"/>
              <a:t>A</a:t>
            </a:r>
            <a:r>
              <a:rPr lang="en-IN" sz="3200" dirty="0"/>
              <a:t> has the highest reachability.</a:t>
            </a:r>
          </a:p>
          <a:p>
            <a:pPr lvl="0"/>
            <a:r>
              <a:rPr lang="en-IN" sz="3200" b="1" dirty="0"/>
              <a:t>D</a:t>
            </a:r>
            <a:r>
              <a:rPr lang="en-IN" sz="3200" dirty="0"/>
              <a:t> has no outgoing connections and can be considered a </a:t>
            </a:r>
            <a:r>
              <a:rPr lang="en-IN" sz="3200" b="1" dirty="0"/>
              <a:t>terminal/low-connectivity user</a:t>
            </a:r>
            <a:r>
              <a:rPr lang="en-IN" sz="3200" dirty="0"/>
              <a:t>.</a:t>
            </a:r>
          </a:p>
          <a:p>
            <a:pPr lvl="0"/>
            <a:r>
              <a:rPr lang="en-IN" sz="3200" dirty="0"/>
              <a:t>The users form one connected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D231-B78B-FC40-A6B1-765DC3EA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0020A0-923D-6759-3628-490E6B07FB3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DD61BE-5A44-4F28-99D9-5C8864B4B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0500"/>
            <a:ext cx="17907000" cy="998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17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017442" y="3784315"/>
            <a:ext cx="3275554" cy="4341096"/>
          </a:xfrm>
          <a:custGeom>
            <a:avLst/>
            <a:gdLst/>
            <a:ahLst/>
            <a:cxnLst/>
            <a:rect l="l" t="t" r="r" b="b"/>
            <a:pathLst>
              <a:path w="3275554" h="4341096">
                <a:moveTo>
                  <a:pt x="0" y="0"/>
                </a:moveTo>
                <a:lnTo>
                  <a:pt x="3275554" y="0"/>
                </a:lnTo>
                <a:lnTo>
                  <a:pt x="3275554" y="4341096"/>
                </a:lnTo>
                <a:lnTo>
                  <a:pt x="0" y="4341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7304" y="4548889"/>
            <a:ext cx="2148015" cy="1405973"/>
          </a:xfrm>
          <a:custGeom>
            <a:avLst/>
            <a:gdLst/>
            <a:ahLst/>
            <a:cxnLst/>
            <a:rect l="l" t="t" r="r" b="b"/>
            <a:pathLst>
              <a:path w="2148015" h="1405973">
                <a:moveTo>
                  <a:pt x="0" y="0"/>
                </a:moveTo>
                <a:lnTo>
                  <a:pt x="2148015" y="0"/>
                </a:lnTo>
                <a:lnTo>
                  <a:pt x="2148015" y="1405974"/>
                </a:lnTo>
                <a:lnTo>
                  <a:pt x="0" y="14059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431192">
            <a:off x="1345293" y="6434532"/>
            <a:ext cx="2079182" cy="2075401"/>
          </a:xfrm>
          <a:custGeom>
            <a:avLst/>
            <a:gdLst/>
            <a:ahLst/>
            <a:cxnLst/>
            <a:rect l="l" t="t" r="r" b="b"/>
            <a:pathLst>
              <a:path w="2079182" h="2075401">
                <a:moveTo>
                  <a:pt x="0" y="0"/>
                </a:moveTo>
                <a:lnTo>
                  <a:pt x="2079182" y="0"/>
                </a:lnTo>
                <a:lnTo>
                  <a:pt x="2079182" y="2075402"/>
                </a:lnTo>
                <a:lnTo>
                  <a:pt x="0" y="2075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4699" y="2908812"/>
            <a:ext cx="1393413" cy="457764"/>
          </a:xfrm>
          <a:custGeom>
            <a:avLst/>
            <a:gdLst/>
            <a:ahLst/>
            <a:cxnLst/>
            <a:rect l="l" t="t" r="r" b="b"/>
            <a:pathLst>
              <a:path w="1393413" h="457764">
                <a:moveTo>
                  <a:pt x="0" y="0"/>
                </a:moveTo>
                <a:lnTo>
                  <a:pt x="1393413" y="0"/>
                </a:lnTo>
                <a:lnTo>
                  <a:pt x="1393413" y="457763"/>
                </a:lnTo>
                <a:lnTo>
                  <a:pt x="0" y="457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81200" y="1768765"/>
            <a:ext cx="13505722" cy="1107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4"/>
              </a:lnSpc>
            </a:pPr>
            <a:r>
              <a:rPr lang="en-US" sz="6600" dirty="0">
                <a:solidFill>
                  <a:srgbClr val="043679"/>
                </a:solidFill>
                <a:latin typeface="Bobby Jones"/>
                <a:ea typeface="Bobby Jones"/>
                <a:cs typeface="Bobby Jones"/>
                <a:sym typeface="Bobby Jones"/>
              </a:rPr>
              <a:t>Conclusion: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55319" y="3736690"/>
            <a:ext cx="12925377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800" dirty="0" err="1"/>
              <a:t>Warshall's</a:t>
            </a:r>
            <a:r>
              <a:rPr lang="en-IN" sz="4800" dirty="0"/>
              <a:t> Algorithm successfully identifies both direct and indirect connections, allowing the system to generate friend recommendations and </a:t>
            </a:r>
            <a:r>
              <a:rPr lang="en-IN" sz="4800" dirty="0" err="1"/>
              <a:t>analyze</a:t>
            </a:r>
            <a:r>
              <a:rPr lang="en-IN" sz="4800" dirty="0"/>
              <a:t> the structure of the social network.</a:t>
            </a:r>
            <a:endParaRPr lang="en-US" sz="4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8842" y="1245452"/>
            <a:ext cx="15756140" cy="8012848"/>
            <a:chOff x="0" y="0"/>
            <a:chExt cx="4149765" cy="21103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49765" cy="2110380"/>
            </a:xfrm>
            <a:custGeom>
              <a:avLst/>
              <a:gdLst/>
              <a:ahLst/>
              <a:cxnLst/>
              <a:rect l="l" t="t" r="r" b="b"/>
              <a:pathLst>
                <a:path w="4149765" h="2110380">
                  <a:moveTo>
                    <a:pt x="20637" y="0"/>
                  </a:moveTo>
                  <a:lnTo>
                    <a:pt x="4129128" y="0"/>
                  </a:lnTo>
                  <a:cubicBezTo>
                    <a:pt x="4134602" y="0"/>
                    <a:pt x="4139851" y="2174"/>
                    <a:pt x="4143721" y="6044"/>
                  </a:cubicBezTo>
                  <a:cubicBezTo>
                    <a:pt x="4147591" y="9915"/>
                    <a:pt x="4149765" y="15164"/>
                    <a:pt x="4149765" y="20637"/>
                  </a:cubicBezTo>
                  <a:lnTo>
                    <a:pt x="4149765" y="2089743"/>
                  </a:lnTo>
                  <a:cubicBezTo>
                    <a:pt x="4149765" y="2101140"/>
                    <a:pt x="4140526" y="2110380"/>
                    <a:pt x="4129128" y="2110380"/>
                  </a:cubicBezTo>
                  <a:lnTo>
                    <a:pt x="20637" y="2110380"/>
                  </a:lnTo>
                  <a:cubicBezTo>
                    <a:pt x="15164" y="2110380"/>
                    <a:pt x="9915" y="2108205"/>
                    <a:pt x="6044" y="2104335"/>
                  </a:cubicBezTo>
                  <a:cubicBezTo>
                    <a:pt x="2174" y="2100465"/>
                    <a:pt x="0" y="2095216"/>
                    <a:pt x="0" y="2089743"/>
                  </a:cubicBezTo>
                  <a:lnTo>
                    <a:pt x="0" y="20637"/>
                  </a:lnTo>
                  <a:cubicBezTo>
                    <a:pt x="0" y="15164"/>
                    <a:pt x="2174" y="9915"/>
                    <a:pt x="6044" y="6044"/>
                  </a:cubicBezTo>
                  <a:cubicBezTo>
                    <a:pt x="9915" y="2174"/>
                    <a:pt x="15164" y="0"/>
                    <a:pt x="20637" y="0"/>
                  </a:cubicBezTo>
                  <a:close/>
                </a:path>
              </a:pathLst>
            </a:custGeom>
            <a:solidFill>
              <a:srgbClr val="FCCC6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149765" cy="216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529769" y="4042950"/>
            <a:ext cx="8193221" cy="6673751"/>
          </a:xfrm>
          <a:custGeom>
            <a:avLst/>
            <a:gdLst/>
            <a:ahLst/>
            <a:cxnLst/>
            <a:rect l="l" t="t" r="r" b="b"/>
            <a:pathLst>
              <a:path w="8193221" h="6673751">
                <a:moveTo>
                  <a:pt x="0" y="0"/>
                </a:moveTo>
                <a:lnTo>
                  <a:pt x="8193222" y="0"/>
                </a:lnTo>
                <a:lnTo>
                  <a:pt x="8193222" y="6673751"/>
                </a:lnTo>
                <a:lnTo>
                  <a:pt x="0" y="6673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0312309" y="4837320"/>
            <a:ext cx="9295876" cy="5729640"/>
          </a:xfrm>
          <a:custGeom>
            <a:avLst/>
            <a:gdLst/>
            <a:ahLst/>
            <a:cxnLst/>
            <a:rect l="l" t="t" r="r" b="b"/>
            <a:pathLst>
              <a:path w="9295876" h="5729640">
                <a:moveTo>
                  <a:pt x="9295876" y="0"/>
                </a:moveTo>
                <a:lnTo>
                  <a:pt x="0" y="0"/>
                </a:lnTo>
                <a:lnTo>
                  <a:pt x="0" y="5729640"/>
                </a:lnTo>
                <a:lnTo>
                  <a:pt x="9295876" y="5729640"/>
                </a:lnTo>
                <a:lnTo>
                  <a:pt x="9295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 rot="103383">
            <a:off x="4896471" y="3242642"/>
            <a:ext cx="8505991" cy="485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63"/>
              </a:lnSpc>
            </a:pPr>
            <a:r>
              <a:rPr lang="en-US" sz="19853">
                <a:solidFill>
                  <a:srgbClr val="000000"/>
                </a:solidFill>
                <a:latin typeface="Kooperativ"/>
                <a:ea typeface="Kooperativ"/>
                <a:cs typeface="Kooperativ"/>
                <a:sym typeface="Kooperativ"/>
              </a:rPr>
              <a:t>Thank You</a:t>
            </a:r>
          </a:p>
        </p:txBody>
      </p:sp>
      <p:sp>
        <p:nvSpPr>
          <p:cNvPr id="9" name="Freeform 9"/>
          <p:cNvSpPr/>
          <p:nvPr/>
        </p:nvSpPr>
        <p:spPr>
          <a:xfrm rot="-1469522">
            <a:off x="15267671" y="-111457"/>
            <a:ext cx="3237745" cy="2713819"/>
          </a:xfrm>
          <a:custGeom>
            <a:avLst/>
            <a:gdLst/>
            <a:ahLst/>
            <a:cxnLst/>
            <a:rect l="l" t="t" r="r" b="b"/>
            <a:pathLst>
              <a:path w="3237745" h="2713819">
                <a:moveTo>
                  <a:pt x="0" y="0"/>
                </a:moveTo>
                <a:lnTo>
                  <a:pt x="3237745" y="0"/>
                </a:lnTo>
                <a:lnTo>
                  <a:pt x="3237745" y="2713819"/>
                </a:lnTo>
                <a:lnTo>
                  <a:pt x="0" y="2713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997538" y="-1109796"/>
            <a:ext cx="5603193" cy="4900247"/>
          </a:xfrm>
          <a:custGeom>
            <a:avLst/>
            <a:gdLst/>
            <a:ahLst/>
            <a:cxnLst/>
            <a:rect l="l" t="t" r="r" b="b"/>
            <a:pathLst>
              <a:path w="5603193" h="4900247">
                <a:moveTo>
                  <a:pt x="5603193" y="0"/>
                </a:moveTo>
                <a:lnTo>
                  <a:pt x="0" y="0"/>
                </a:lnTo>
                <a:lnTo>
                  <a:pt x="0" y="4900248"/>
                </a:lnTo>
                <a:lnTo>
                  <a:pt x="5603193" y="4900248"/>
                </a:lnTo>
                <a:lnTo>
                  <a:pt x="56031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779313" y="-2057400"/>
            <a:ext cx="3897838" cy="4114800"/>
          </a:xfrm>
          <a:custGeom>
            <a:avLst/>
            <a:gdLst/>
            <a:ahLst/>
            <a:cxnLst/>
            <a:rect l="l" t="t" r="r" b="b"/>
            <a:pathLst>
              <a:path w="3897838" h="411480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550</Words>
  <Application>Microsoft Office PowerPoint</Application>
  <PresentationFormat>Custom</PresentationFormat>
  <Paragraphs>83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Marykate</vt:lpstr>
      <vt:lpstr>Arial</vt:lpstr>
      <vt:lpstr>Aptos</vt:lpstr>
      <vt:lpstr>Garet</vt:lpstr>
      <vt:lpstr>Bahnschrift SemiBold</vt:lpstr>
      <vt:lpstr>Arial Rounded MT Bold</vt:lpstr>
      <vt:lpstr>Calibri</vt:lpstr>
      <vt:lpstr>Sniglet</vt:lpstr>
      <vt:lpstr>Bobby Jones</vt:lpstr>
      <vt:lpstr>Kooperativ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Theme</dc:title>
  <cp:lastModifiedBy>Ahemad Patwe</cp:lastModifiedBy>
  <cp:revision>8</cp:revision>
  <dcterms:created xsi:type="dcterms:W3CDTF">2006-08-16T00:00:00Z</dcterms:created>
  <dcterms:modified xsi:type="dcterms:W3CDTF">2026-10-18T08:59:23Z</dcterms:modified>
  <dc:identifier>DAGPefyFdmQ</dc:identifier>
</cp:coreProperties>
</file>